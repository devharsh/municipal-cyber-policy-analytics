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Corpus composition (n = 51)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Meeting agendas/minutes</c:v>
                  </c:pt>
                  <c:pt idx="1">
                    <c:v>Unclassifiable/scanned</c:v>
                  </c:pt>
                  <c:pt idx="2">
                    <c:v>Cybersecurity policies</c:v>
                  </c:pt>
                  <c:pt idx="3">
                    <c:v>Business plans/reports</c:v>
                  </c:pt>
                  <c:pt idx="4">
                    <c:v>Non-cyber policies</c:v>
                  </c:pt>
                  <c:pt idx="5">
                    <c:v>Financial statements</c:v>
                  </c:pt>
                  <c:pt idx="6">
                    <c:v>Advisory reports</c:v>
                  </c:pt>
                  <c:pt idx="7">
                    <c:v>Procurement/RFP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11</c:v>
                </c:pt>
                <c:pt idx="2">
                  <c:v>7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b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Document-detection F1 by variant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C0562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6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6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562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562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V0 original</c:v>
                  </c:pt>
                  <c:pt idx="1">
                    <c:v>V1 no 'training'</c:v>
                  </c:pt>
                  <c:pt idx="2">
                    <c:v>V2 qualified</c:v>
                  </c:pt>
                  <c:pt idx="3">
                    <c:v>V3 expanded</c:v>
                  </c:pt>
                  <c:pt idx="4">
                    <c:v>AI-assisted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0.353</c:v>
                </c:pt>
                <c:pt idx="1">
                  <c:v>0.571</c:v>
                </c:pt>
                <c:pt idx="2">
                  <c:v>0.571</c:v>
                </c:pt>
                <c:pt idx="3">
                  <c:v>0.636</c:v>
                </c:pt>
                <c:pt idx="4">
                  <c:v>0.737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session chair. Joint work with my students Sage and Titorian at Bowie State. 20 minutes plus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minutes: about seven on setup, seven on results, six on implications.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the students' poster and honorable mention. The Govern function added in CSF 2.0 is central to what we found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Incidents everyone knows; the open question is what public policy documents actually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is the methodological core. The scope note matters for interpreting every later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 of framework context for non-security audience members. Govern and GV.SC are what our findings hinge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Web-discoverable government documents are heterogeneous - exactly the condition that breaks keyword matching.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rubric and detection question for both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12k characters: policies state their purpose and requirements up front; the cut is uniform across documents and methods, and the stability check bounds its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disagreement documents return later - they are the same ones the AI finds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Significance testing added at reviewer request: discordant pairs 18 vs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asked for ordinal statistics; kappa-w near zero for Protect versus 0.4-0.8 elsewhere is the cleanest summary of the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to the Protect panel - the visual version of r = 0.151.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Protect bar towers for keywords while AI stays flat - that gap is noise, not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did not fit in the 15-page paper - the CSV behind it is in the public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sensitivity to list specification, not 'AI beats keywords in general'. V3 approximates an upper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analyses added at reviewer request. Function means carry a one-point tolerance; binary detection is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figure that did not fit the page limit. Rows are the seven verified policies; note the cool Detect and Recover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framing: absence of public documents, not proof of absent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Prioritized for thin budgets - governance and procurement language before technology purchases.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needed to replicate in another state is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repo for corpus, code, and the labeled dataset. Open for questions and collaborations.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CCSC Eastern Conference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 State and Local Cybersecurity Readiness Through Automated Policy Analytics: Evidence from Maryland Local Governments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Devharsh Trivedi   |   Sage Despeignes   |   Titorian Huggins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044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Bowie State University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374904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Computing Sciences in Colleges 42(3)  -  Paper 129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075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4128" y="1234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prior work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075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research questions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99008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29169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and the Maryland corpus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3758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prompt, and ground truth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09160" y="13075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76088" y="1234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detection and agreement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09160" y="214884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76088" y="20756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errors, and stability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76088" y="29169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findings and discussion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709160" y="3831336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76088" y="3758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conclusion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prior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60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as part of the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(Scholarship for Service)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research component at Bowie State University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CCSC-E 2025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Sage and Titorian presented our poster mapping Maryland local policies to NIST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1.1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received an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honorable mention</a:t>
            </a:r>
            <a:pPr indent="0" marL="0">
              <a:spcAft>
                <a:spcPts val="900"/>
              </a:spcAft>
              <a:buNone/>
            </a:pP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poster identified uneven vendor-risk oversight and limited recovery planning across 11 jurisdictions, using keyword matching alone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extends that work: 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1.1 to CSF 2.0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(adds the Govern function), an expanded 51-document corpus, an AI-assisted method, and a full quantitative evaluation</a:t>
            </a:r>
            <a:endParaRPr lang="en-US" sz="1300" dirty="0"/>
          </a:p>
        </p:txBody>
      </p:sp>
      <p:pic>
        <p:nvPicPr>
          <p:cNvPr id="4" name="Image 0" descr="post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57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33284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Titorian Huggins (L) and Sage Despeignes (R)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CCSC-E 2025 poster session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46320" y="38404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4F1F0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1.1 poster (2025)  →  CSF 2.0 paper (2026)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4074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Despeignes, Titorian Huggins, and Devharsh Trivedi. 2025. Local Government Supply Chain Cybersecurity: Addressing the Implementation Gap in Resource-Limited Municipalities. J. Comput. Sci. Coll. 41, 3 (October 2025), 36–37.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ransomware, 2019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recovery cost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ransomware, 2018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194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expenditures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63640" y="1856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organizations, SolarWinds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state and local agencies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budgets, aging infrastructure, and reliance on outside vendors and cloud services expand the local-government attack surface.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guidance (EO 14028; CISA Cybersecurity Performance Goals) urges governance at all levels; municipal adoption remains uneven.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of state and local policies with NIST CSF 2.0 has not been systematically quantified.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Norris et al. 2021; Norris, Mateczun, and Forno 2022; CISA 2021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1051560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publicly available state and local policy documents address NIST CSF 2.0 functions?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9222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1746504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comprehensively do local governments address supply-chain cybersecurity risks?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441448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AI-assisted classification compare to keyword-based analysis for policy assessment?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5568" y="3136392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improvements can resource-constrained municipalities prioritize?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4F1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416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refers to what public documents state - a proxy for governance transparency, not a measure of implemented controls.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Cybersecurity Framework 2.0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1.1 (2018): five functions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14813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813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12464" y="14813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3712464" y="14813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0096" y="14813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340096" y="14813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67728" y="1481328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6967728" y="14813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2.0 (February 2024): a sixth function, Govern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288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0" y="2596896"/>
            <a:ext cx="1243584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5968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covers organizational context, risk management strategy, roles and responsibilities, policies, and oversight - an explicit acknowledgment that technical controls alone are insufficient without executive accountability.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 management (GV.SC) moves under the governance umbrella, elevating third-party risk to a leadership concern.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45537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2024; Barrett et al. 2018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Maryland public document corpus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queries on md.gov: cybersecurity policy, disaster recovery plan, contractor cybersecurity, incident response plan, procurement policy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six direct state agency downloads; MD5 deduplication leaves 51 unique PDFs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extraction; first 12,000 characters per document classified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9EDE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968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of 51 documents are genuine cybersecurity policies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26280" y="1005840"/>
          <a:ext cx="4160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Methods: two NIST CSF 2.0 classifiers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9EDE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52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keyword baseline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terms per function, e.g. Protect: access control, authentication, encryption, training, firewall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regex counts, normalized 0-2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flagged if any function has 5+ raw hits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E4F1F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52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AI-assisted (LLM)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4.6; single pass; identical auditor prompt for every document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function 0 / 1 / 2 with a stored rationale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flagged if any function scores 1 or higher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47088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1847088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36976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3236976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16752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3950208"/>
            <a:ext cx="1261872" cy="420624"/>
          </a:xfrm>
          <a:prstGeom prst="roundRect">
            <a:avLst>
              <a:gd name="adj" fmla="val 17391"/>
            </a:avLst>
          </a:prstGeom>
          <a:solidFill>
            <a:srgbClr val="EE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395020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0 = absent    1 = partial (mentioned, no operational detail)    2 = present (substantive coverage)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prompt and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4F1F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are a cybersecurity auditor. Classify the following policy according to NIST CSF 2.0: Govern / Identify / Protect / Detect / Respond / Recover. For each category provide: 0 = absent, 1 = partial, 2 = present. Explain your reasoning. [document text]”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identifier claude-sonnet-4-6; one pass per document; no system prompt beyond the text above; no per-document tuning; provider-default sampling (no temperature or seed control), quantified later by a three-run stability check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first 12,000 characters (about 3,000 tokens, or 4-6 pages). Policy documents front-load purpose, scope, authority, and requirement statements, so the prefix captures primary intent; a fixed cut gives every document the same evidence budget and bounds inference cost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cost is visible only as one-point score variance on long manuals in the stability check; retrieval-augmented full-document processing is future work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requested rationale is stored with every score, an auditable record; corpus, prompt, scores, labels, and code are public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github.com/devharsh/municipal-cyber-policy-analytics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and label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 primary purpose is to define cybersecurity requirements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IT Security Manual v1.2 (2019)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DHMH IT Security Policy v4.0 (2014)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Judicial Information Security Policy (2026)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DOIT Cyber Risk Management Policy (2026)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DOIT Continuous Monitoring Policy (2026)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DOIT System &amp; Network Security Policy (2026)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MSDE Acceptable Use Policy v2.0 (2024)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E4F1F0"/>
          </a:solidFill>
          <a:ln/>
        </p:spPr>
      </p:sp>
      <p:sp>
        <p:nvSpPr>
          <p:cNvPr id="6" name="Text 4"/>
          <p:cNvSpPr/>
          <p:nvPr/>
        </p:nvSpPr>
        <p:spPr>
          <a:xfrm>
            <a:off x="5166360" y="1152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second-rater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5361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Cohen's kappa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166360" y="2212848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raw agreement (47/51), substantial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positives independently confirmed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disagreements: two advisory reports, a data management plan, a workforce policy - all boundary documents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retained under the primary-purpose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detection performance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640080"/>
                <a:gridCol w="640080"/>
                <a:gridCol w="640080"/>
                <a:gridCol w="960120"/>
                <a:gridCol w="914400"/>
                <a:gridCol w="8686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(M1)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(M2)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108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-76%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7124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(21 to 5)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918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4F1F0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3108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474720" y="37124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exact test: 18 errors corrected, 1 introduced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108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[0.20, 0.59]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309360" y="37124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on the F1 difference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of 1.00 refers to this corpus (7/7 positives). Tests: exact binomial McNemar on discordant pairs (b = 1, c = 18); percentile bootstrap over documents, 10,000 resamples.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between methods by function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kappa_w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5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5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5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5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800600" y="128016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ordinal, so Spearman rho and quadratic-weighted Cohen's kappa are reported alongside Pearson r; all three statistics tell the same 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six functions agree strongly: r &gt; 0.5 (p &lt; 0.001), weighted kappa between 0.42 and 0.78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is the sole exception (p = 0.291): keyword noise from 'training' erases the signal on exactly one function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agree wherever documents use explicit governance, risk, or incident language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vs AI scores, function by function</a:t>
            </a:r>
            <a:endParaRPr lang="en-US" sz="2600" dirty="0"/>
          </a:p>
        </p:txBody>
      </p:sp>
      <p:pic>
        <p:nvPicPr>
          <p:cNvPr id="3" name="Image 0" descr="results/scatter_kw_vs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3319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80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plots keyword (x) against AI (y) scores per document; panel labels report Pearson r (repository figure)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60720" y="12344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the diagonal are documents where the two methods agree exactly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five panels, cybersecurity policies (pink) climb the diagonal and non-policy documents sit at the origin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Protect panel is a structureless cloud: non-policy documents score high on keywords but zero with AI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Below-diagonal mass = keyword inflation; above-diagonal = AI credit for unmatched technical vocabulary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analysis: the term 'training'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'training' appears hundreds of times in vocational and workforce documents: Protect mean raw score 18.0, four times any other function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workforce WIOA annual report ranks 4th overall, above three genuine cybersecurity policies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MD DOIT System &amp; Network Security Policy scores 3: its technical vocabulary matches no keyword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noise wipes out Protect agreement while every other function stays significant</a:t>
            </a:r>
            <a:endParaRPr lang="en-US" sz="1300" dirty="0"/>
          </a:p>
        </p:txBody>
      </p:sp>
      <p:pic>
        <p:nvPicPr>
          <p:cNvPr id="4" name="Image 0" descr="results/method_comparis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43000"/>
            <a:ext cx="3886200" cy="2916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00600" y="41330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normalized score per CSF function,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vs AI-assisted (from the paper)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false positives come from</a:t>
            </a:r>
            <a:endParaRPr lang="en-US" sz="2600" dirty="0"/>
          </a:p>
        </p:txBody>
      </p:sp>
      <p:pic>
        <p:nvPicPr>
          <p:cNvPr id="3" name="Image 0" descr="results/false_positiv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206240" cy="2313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Function-level false-positive flags on non-policy documents (repository figure)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892040" y="1234440"/>
            <a:ext cx="3794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alone accounts for 21 of 27 keyword false-positive flags (78%)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false positives concentrate in business plans, workforce reports, and meeting agendas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function-level false positives total just 12 cells, spread across all six functions with no single driver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flag the two cybersecurity advisory reports - documents that discuss, but do not define, requirements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keyword-list sensitivity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206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892040" y="105156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original 4-5 term lists per function, bare 'training' included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V0 minus the single ambiguous term 'training'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'training' kept only with a security qualifier (e.g., security awareness training)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V1 plus MFA, least privilege, segmentation, patch management, SIEM, threat intelligence, ... (engineered post hoc; approximates an upper bound)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generic auditor prompt, no keyword lists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92040" y="34290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V1/V2: false positives 21 to 8; V3 additionally recovers the false negative (recall 1.00)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V3: not significant at n = 51 (McNemar p = 0.45), yet AI required no list engineering at all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and stability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AI false positives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536192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Local Gov Cybersecurity Report - advisory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Cybersecurity Council Report - advisory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Procurement Manual - vendor security clauses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iMap Data Management Plan - data governance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grant - 'disaster recovery' meant economics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five are the second rater's disagreements.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a score of 2 keeps all 7 policies and leaves 2 false positives (F1 = 0.875).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4F1F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re-runs, 13 documents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3619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relevance decisions identical in every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542032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 of 78 function cells identical across all three runs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within one point; variance sits on the partial-vs-present boundary of long manuals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non-cyber document ever scored above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across the verified policies</a:t>
            </a:r>
            <a:endParaRPr lang="en-US" sz="2600" dirty="0"/>
          </a:p>
        </p:txBody>
      </p:sp>
      <p:pic>
        <p:nvPicPr>
          <p:cNvPr id="3" name="Image 0" descr="results/ai_heatmap_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05840"/>
            <a:ext cx="6675120" cy="2688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8404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is consistently covered (mean 1.71/2); Detect (0.86) and Recover (1.14) lag across the seven verified policies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terms appear in 34 of 51 documents, but substantive SCRM provisions in only 4 of 7 policies; eMMA procurement language names vendors without security obligations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coverage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E4F1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1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level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coverage is consistent across the seven verified policies (mean 1.71/2); Detect (0.86) and Recover (1.14) lag behind.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61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level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474720" y="1719072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standalone municipal cybersecurity policy was discoverable for any of the 23 counties or Baltimore City: absent or unpublished.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9EDE3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261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09360" y="1719072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SCRM provisions in only 4 of 7 policies. Procurement language references vendors without imposing security obligations.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Public-facing municipal cybersecurity governance is largely absent or non-discoverable.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426464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28016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225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CSF 2.0 Govern provisions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7008" y="16276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risk appetite and executive cybersecurity roles; minimal technical investment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426464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4910328" y="1280160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58968" y="1225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procurement templates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58968" y="16276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certification, incident notification, and right-to-audit clauses as standard contract language.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977640" cy="1426464"/>
          </a:xfrm>
          <a:prstGeom prst="roundRect">
            <a:avLst>
              <a:gd name="adj" fmla="val 5128"/>
            </a:avLst>
          </a:prstGeom>
          <a:solidFill>
            <a:srgbClr val="E4F1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9077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2852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Regionalize incident response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07008" y="32552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pool detection and response capability across small jurisdictions.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24912"/>
            <a:ext cx="3977640" cy="1426464"/>
          </a:xfrm>
          <a:prstGeom prst="roundRect">
            <a:avLst>
              <a:gd name="adj" fmla="val 5128"/>
            </a:avLst>
          </a:prstGeom>
          <a:solidFill>
            <a:srgbClr val="E4F1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10328" y="290779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58968" y="2852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governance policies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58968" y="32552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documents create external accountability; Maryland DOIT's suite is a replicable template.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443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researchers: prefer AI-assisted classification when policy corpora mix heterogeneous document types.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classification significantly outperforms keyword matching on heterogeneous government corpora (F1 0.737 vs 0.353, p &lt; 0.001) and still leads refined lists (0.636).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reproducible: public corpus, prompt, scores, rationales, dual-rater labels, and analysis code.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public record shows consistent state-level governance and a municipal-level gap, especially for supply chain requirements.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5204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validation toward all 50 states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35204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fine-tuned LLM baselines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352044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6144768" y="352044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full-document processing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83080" y="41605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1892808" y="41605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re-collection over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41605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41605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 the dual-rater labeled dataset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737360" y="269748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6974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dtrivedi@bowiestate.edu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github.com/devharsh/municipal-cyber-policy-analytics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linkedin.com/in/devharsh    |    researchgate.net/profile/Devharsh-Trivedi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4160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as part of the SFS (Scholarship for Service) research component at Bowie State University.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8828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Trivedi, Despeignes, Huggins  |  Bowie State University  |  CCSC Eastern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82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2026-07-18T02:06:27Z</dcterms:created>
  <dcterms:modified xsi:type="dcterms:W3CDTF">2026-07-18T02:06:27Z</dcterms:modified>
</cp:coreProperties>
</file>